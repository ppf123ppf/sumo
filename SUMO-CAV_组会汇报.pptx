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1A2332"/>
                </a:solidFill>
                <a:latin typeface="DejaVu Sans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1A2332"/>
                </a:solidFill>
                <a:latin typeface="DejaVu Sans"/>
              </a:rPr>
              <a:t>通过车辆数 vs CAV渗透率</a:t>
            </a:r>
            <a:endParaRPr sz="1200" b="0" i="0" u="none" strike="noStrike">
              <a:solidFill>
                <a:srgbClr val="1A2332"/>
              </a:solidFill>
              <a:latin typeface="DejaVu Sans"/>
            </a:endParaRPr>
          </a:p>
        </c:rich>
      </c:tx>
      <c:layout/>
      <c:overlay val="0"/>
    </c:title>
    <c:autoTitleDeleted val="0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1200 pcu/h</c:v>
                </c:pt>
              </c:strCache>
            </c:strRef>
          </c:tx>
          <c:spPr>
            <a:ln w="31750" cap="flat" cmpd="sng" algn="ctr">
              <a:solidFill>
                <a:srgbClr val="2D8B8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D8B8B"/>
              </a:solidFill>
              <a:ln w="9525" cap="flat" cmpd="sng" algn="ctr">
                <a:solidFill>
                  <a:srgbClr val="2D8B8B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0%</c:v>
                </c:pt>
                <c:pt idx="1">
                  <c:v>10%</c:v>
                </c:pt>
                <c:pt idx="2">
                  <c:v>30%</c:v>
                </c:pt>
                <c:pt idx="3">
                  <c:v>50%</c:v>
                </c:pt>
                <c:pt idx="4">
                  <c:v>70%</c:v>
                </c:pt>
                <c:pt idx="5">
                  <c:v>100%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77</c:v>
                </c:pt>
                <c:pt idx="1">
                  <c:v>77</c:v>
                </c:pt>
                <c:pt idx="2">
                  <c:v>79</c:v>
                </c:pt>
                <c:pt idx="3">
                  <c:v>74</c:v>
                </c:pt>
                <c:pt idx="4">
                  <c:v>78</c:v>
                </c:pt>
                <c:pt idx="5">
                  <c:v>77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2000 pcu/h</c:v>
                </c:pt>
              </c:strCache>
            </c:strRef>
          </c:tx>
          <c:spPr>
            <a:ln w="31750" cap="flat" cmpd="sng" algn="ctr">
              <a:solidFill>
                <a:srgbClr val="4A7C8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A7C8B"/>
              </a:solidFill>
              <a:ln w="9525" cap="flat" cmpd="sng" algn="ctr">
                <a:solidFill>
                  <a:srgbClr val="4A7C8B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0%</c:v>
                </c:pt>
                <c:pt idx="1">
                  <c:v>10%</c:v>
                </c:pt>
                <c:pt idx="2">
                  <c:v>30%</c:v>
                </c:pt>
                <c:pt idx="3">
                  <c:v>50%</c:v>
                </c:pt>
                <c:pt idx="4">
                  <c:v>70%</c:v>
                </c:pt>
                <c:pt idx="5">
                  <c:v>100%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109</c:v>
                </c:pt>
                <c:pt idx="1">
                  <c:v>118</c:v>
                </c:pt>
                <c:pt idx="2">
                  <c:v>123</c:v>
                </c:pt>
                <c:pt idx="3">
                  <c:v>122</c:v>
                </c:pt>
                <c:pt idx="4">
                  <c:v>124</c:v>
                </c:pt>
                <c:pt idx="5">
                  <c:v>126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2800 pcu/h</c:v>
                </c:pt>
              </c:strCache>
            </c:strRef>
          </c:tx>
          <c:spPr>
            <a:ln w="31750" cap="flat" cmpd="sng" algn="ctr">
              <a:solidFill>
                <a:srgbClr val="D4A37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4A373"/>
              </a:solidFill>
              <a:ln w="9525" cap="flat" cmpd="sng" algn="ctr">
                <a:solidFill>
                  <a:srgbClr val="D4A373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0%</c:v>
                </c:pt>
                <c:pt idx="1">
                  <c:v>10%</c:v>
                </c:pt>
                <c:pt idx="2">
                  <c:v>30%</c:v>
                </c:pt>
                <c:pt idx="3">
                  <c:v>50%</c:v>
                </c:pt>
                <c:pt idx="4">
                  <c:v>70%</c:v>
                </c:pt>
                <c:pt idx="5">
                  <c:v>100%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97</c:v>
                </c:pt>
                <c:pt idx="1">
                  <c:v>172</c:v>
                </c:pt>
                <c:pt idx="2">
                  <c:v>159</c:v>
                </c:pt>
                <c:pt idx="3">
                  <c:v>171</c:v>
                </c:pt>
                <c:pt idx="4">
                  <c:v>167</c:v>
                </c:pt>
                <c:pt idx="5">
                  <c:v>173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3600 pcu/h</c:v>
                </c:pt>
              </c:strCache>
            </c:strRef>
          </c:tx>
          <c:spPr>
            <a:ln w="31750" cap="flat" cmpd="sng" algn="ctr">
              <a:solidFill>
                <a:srgbClr val="C4454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44545"/>
              </a:solidFill>
              <a:ln w="9525" cap="flat" cmpd="sng" algn="ctr">
                <a:solidFill>
                  <a:srgbClr val="C44545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0%</c:v>
                </c:pt>
                <c:pt idx="1">
                  <c:v>10%</c:v>
                </c:pt>
                <c:pt idx="2">
                  <c:v>30%</c:v>
                </c:pt>
                <c:pt idx="3">
                  <c:v>50%</c:v>
                </c:pt>
                <c:pt idx="4">
                  <c:v>70%</c:v>
                </c:pt>
                <c:pt idx="5">
                  <c:v>100%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61</c:v>
                </c:pt>
                <c:pt idx="1">
                  <c:v>214</c:v>
                </c:pt>
                <c:pt idx="2">
                  <c:v>213</c:v>
                </c:pt>
                <c:pt idx="3">
                  <c:v>211</c:v>
                </c:pt>
                <c:pt idx="4">
                  <c:v>214</c:v>
                </c:pt>
                <c:pt idx="5">
                  <c:v>204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5C6B7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5C6B7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rgbClr val="5C6B7A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08c06a17-e01d-4818-a681-8f36c3431cd3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1A2332"/>
                </a:solidFill>
                <a:latin typeface="DejaVu Sans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1A2332"/>
                </a:solidFill>
                <a:latin typeface="DejaVu Sans"/>
              </a:rPr>
              <a:t>通过车辆数对比（密度 pcu/h）</a:t>
            </a:r>
            <a:endParaRPr sz="1100" b="0" i="0" u="none" strike="noStrike">
              <a:solidFill>
                <a:srgbClr val="1A2332"/>
              </a:solidFill>
              <a:latin typeface="DejaVu Sans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Game (Ours)</c:v>
                </c:pt>
              </c:strCache>
            </c:strRef>
          </c:tx>
          <c:spPr>
            <a:solidFill>
              <a:srgbClr val="2D8B8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2332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1200</c:v>
                </c:pt>
                <c:pt idx="1">
                  <c:v>2000</c:v>
                </c:pt>
                <c:pt idx="2">
                  <c:v>2800</c:v>
                </c:pt>
                <c:pt idx="3">
                  <c:v>3600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77</c:v>
                </c:pt>
                <c:pt idx="1">
                  <c:v>126</c:v>
                </c:pt>
                <c:pt idx="2">
                  <c:v>173</c:v>
                </c:pt>
                <c:pt idx="3">
                  <c:v>204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No-V2X</c:v>
                </c:pt>
              </c:strCache>
            </c:strRef>
          </c:tx>
          <c:spPr>
            <a:solidFill>
              <a:srgbClr val="4A7C8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2332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1200</c:v>
                </c:pt>
                <c:pt idx="1">
                  <c:v>2000</c:v>
                </c:pt>
                <c:pt idx="2">
                  <c:v>2800</c:v>
                </c:pt>
                <c:pt idx="3">
                  <c:v>3600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77</c:v>
                </c:pt>
                <c:pt idx="1">
                  <c:v>126</c:v>
                </c:pt>
                <c:pt idx="2">
                  <c:v>173</c:v>
                </c:pt>
                <c:pt idx="3">
                  <c:v>203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Rule-Based</c:v>
                </c:pt>
              </c:strCache>
            </c:strRef>
          </c:tx>
          <c:spPr>
            <a:solidFill>
              <a:srgbClr val="D4A37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2332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1200</c:v>
                </c:pt>
                <c:pt idx="1">
                  <c:v>2000</c:v>
                </c:pt>
                <c:pt idx="2">
                  <c:v>2800</c:v>
                </c:pt>
                <c:pt idx="3">
                  <c:v>3600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48</c:v>
                </c:pt>
                <c:pt idx="1">
                  <c:v>80</c:v>
                </c:pt>
                <c:pt idx="2">
                  <c:v>106</c:v>
                </c:pt>
                <c:pt idx="3">
                  <c:v>135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SUMO Default</c:v>
                </c:pt>
              </c:strCache>
            </c:strRef>
          </c:tx>
          <c:spPr>
            <a:solidFill>
              <a:srgbClr val="C4454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2332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1200</c:v>
                </c:pt>
                <c:pt idx="1">
                  <c:v>2000</c:v>
                </c:pt>
                <c:pt idx="2">
                  <c:v>2800</c:v>
                </c:pt>
                <c:pt idx="3">
                  <c:v>3600</c:v>
                </c:pt>
              </c:numCache>
            </c:numRef>
          </c:cat>
          <c:val>
            <c:numRef>
              <c:f>Sheet1!$E$2:$E$5</c:f>
              <c:numCache>
                <c:formatCode>General</c:formatCode>
                <c:ptCount val="4"/>
                <c:pt idx="0">
                  <c:v>61</c:v>
                </c:pt>
                <c:pt idx="1">
                  <c:v>35</c:v>
                </c:pt>
                <c:pt idx="2">
                  <c:v>41</c:v>
                </c:pt>
                <c:pt idx="3">
                  <c:v>57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5C6B7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5C6B7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rgbClr val="5C6B7A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e114ae57-f74c-48c7-b8cc-055aa6b6c28c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4" name="Shape 2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2D8B8B">
              <a:alpha val="12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1E6B6B">
              <a:alpha val="12000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731520" y="1097280"/>
            <a:ext cx="77724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SUMO-CAV 混合交通博弈换道仿真系统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8DAD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高速公路事故场景下CAV换道决策研究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2743200" cy="0"/>
          </a:xfrm>
          <a:prstGeom prst="line">
            <a:avLst/>
          </a:prstGeom>
          <a:noFill/>
          <a:ln w="25400">
            <a:solidFill>
              <a:srgbClr val="2D8B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3832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课题组组会汇报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2026年5月9</a:t>
            </a:r>
            <a:r>
              <a:rPr lang="zh-CN" altLang="en-US" sz="14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日</a:t>
            </a:r>
            <a:r>
              <a:rPr lang="en-US" altLang="zh-CN" sz="14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 </a:t>
            </a:r>
            <a:r>
              <a:rPr lang="zh-CN" altLang="en-US" sz="14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庞鹏飞</a:t>
            </a:r>
            <a:endParaRPr lang="zh-CN" altLang="en-US" sz="1400" dirty="0">
              <a:solidFill>
                <a:srgbClr val="5C6B7A"/>
              </a:solidFill>
              <a:latin typeface="DejaVu Sans" pitchFamily="34" charset="0"/>
              <a:ea typeface="DejaVu Sans" pitchFamily="34" charset="-122"/>
              <a:cs typeface="DejaVu Sans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3" name="Shape 1"/>
          <p:cNvSpPr/>
          <p:nvPr/>
        </p:nvSpPr>
        <p:spPr>
          <a:xfrm>
            <a:off x="731520" y="457200"/>
            <a:ext cx="1645920" cy="301752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4" name="Text 2"/>
          <p:cNvSpPr/>
          <p:nvPr/>
        </p:nvSpPr>
        <p:spPr>
          <a:xfrm>
            <a:off x="731520" y="457200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报告提纲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汇报内容结构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3544" y="1783080"/>
            <a:ext cx="0" cy="2880360"/>
          </a:xfrm>
          <a:prstGeom prst="line">
            <a:avLst/>
          </a:prstGeom>
          <a:noFill/>
          <a:ln w="19050">
            <a:solidFill>
              <a:srgbClr val="D4DC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63040"/>
            <a:ext cx="384048" cy="384048"/>
          </a:xfrm>
          <a:prstGeom prst="ellipse">
            <a:avLst/>
          </a:prstGeom>
          <a:solidFill>
            <a:srgbClr val="2D8B8B"/>
          </a:solidFill>
        </p:spPr>
      </p:sp>
      <p:sp>
        <p:nvSpPr>
          <p:cNvPr id="8" name="Text 6"/>
          <p:cNvSpPr/>
          <p:nvPr/>
        </p:nvSpPr>
        <p:spPr>
          <a:xfrm>
            <a:off x="731520" y="14630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146304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研究背景与问题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1719072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高速公路事故场景下的CAV换道决策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039112"/>
            <a:ext cx="384048" cy="384048"/>
          </a:xfrm>
          <a:prstGeom prst="ellipse">
            <a:avLst/>
          </a:prstGeom>
          <a:solidFill>
            <a:srgbClr val="2D8B8B"/>
          </a:solidFill>
        </p:spPr>
      </p:sp>
      <p:sp>
        <p:nvSpPr>
          <p:cNvPr id="12" name="Text 10"/>
          <p:cNvSpPr/>
          <p:nvPr/>
        </p:nvSpPr>
        <p:spPr>
          <a:xfrm>
            <a:off x="731520" y="20391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25880" y="203911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场景设计与技术路线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2295144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仿真场景搭建与整体技术框架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615184"/>
            <a:ext cx="384048" cy="384048"/>
          </a:xfrm>
          <a:prstGeom prst="ellipse">
            <a:avLst/>
          </a:prstGeom>
          <a:solidFill>
            <a:srgbClr val="2D8B8B"/>
          </a:solidFill>
        </p:spPr>
      </p:sp>
      <p:sp>
        <p:nvSpPr>
          <p:cNvPr id="16" name="Text 14"/>
          <p:cNvSpPr/>
          <p:nvPr/>
        </p:nvSpPr>
        <p:spPr>
          <a:xfrm>
            <a:off x="731520" y="261518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25880" y="2615184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博弈换道模型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2871216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8维原子特征空间与混合博弈求解器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191256"/>
            <a:ext cx="384048" cy="384048"/>
          </a:xfrm>
          <a:prstGeom prst="ellipse">
            <a:avLst/>
          </a:prstGeom>
          <a:solidFill>
            <a:srgbClr val="2D8B8B"/>
          </a:solidFill>
        </p:spPr>
      </p:sp>
      <p:sp>
        <p:nvSpPr>
          <p:cNvPr id="20" name="Text 18"/>
          <p:cNvSpPr/>
          <p:nvPr/>
        </p:nvSpPr>
        <p:spPr>
          <a:xfrm>
            <a:off x="731520" y="31912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25880" y="319125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低渗透率自适应机制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3447288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对抗性偏差·互惠记忆·自适应阈值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767328"/>
            <a:ext cx="384048" cy="384048"/>
          </a:xfrm>
          <a:prstGeom prst="ellipse">
            <a:avLst/>
          </a:prstGeom>
          <a:solidFill>
            <a:srgbClr val="2D8B8B"/>
          </a:solidFill>
        </p:spPr>
      </p:sp>
      <p:sp>
        <p:nvSpPr>
          <p:cNvPr id="24" name="Text 22"/>
          <p:cNvSpPr/>
          <p:nvPr/>
        </p:nvSpPr>
        <p:spPr>
          <a:xfrm>
            <a:off x="731520" y="37673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25880" y="376732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实验结果与消融分析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25880" y="4023360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渗透率扫描·四模型对比·逐层消融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4343400"/>
            <a:ext cx="384048" cy="384048"/>
          </a:xfrm>
          <a:prstGeom prst="ellipse">
            <a:avLst/>
          </a:prstGeom>
          <a:solidFill>
            <a:srgbClr val="2D8B8B"/>
          </a:solidFill>
        </p:spPr>
      </p:sp>
      <p:sp>
        <p:nvSpPr>
          <p:cNvPr id="28" name="Text 26"/>
          <p:cNvSpPr/>
          <p:nvPr/>
        </p:nvSpPr>
        <p:spPr>
          <a:xfrm>
            <a:off x="731520" y="43434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325880" y="434340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总结与下一步工作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25880" y="4599432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核心结论与后续研究计划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3" name="Shape 1"/>
          <p:cNvSpPr/>
          <p:nvPr/>
        </p:nvSpPr>
        <p:spPr>
          <a:xfrm>
            <a:off x="731520" y="457200"/>
            <a:ext cx="1645920" cy="301752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4" name="Text 2"/>
          <p:cNvSpPr/>
          <p:nvPr/>
        </p:nvSpPr>
        <p:spPr>
          <a:xfrm>
            <a:off x="731520" y="457200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研究背景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高速公路事故场景下的CAV换道决策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3840480" cy="27432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737360"/>
            <a:ext cx="3840480" cy="320040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8" name="Text 6"/>
          <p:cNvSpPr/>
          <p:nvPr/>
        </p:nvSpPr>
        <p:spPr>
          <a:xfrm>
            <a:off x="914400" y="175564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核心问题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347472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D8B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混合交通环境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CAV 与人类驾驶车辆（保守/普通/激进三种风格）混行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D4A37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事故场景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中间车道 3000m 处追尾事故封堵，车辆须强制换道至车道0或车道2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C4454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核心挑战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CAV 需与异质人类车博弈完成安全高效的换道决策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737360"/>
            <a:ext cx="3840480" cy="27432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737360"/>
            <a:ext cx="3840480" cy="320040"/>
          </a:xfrm>
          <a:prstGeom prst="rect">
            <a:avLst/>
          </a:prstGeom>
          <a:solidFill>
            <a:srgbClr val="D4A373"/>
          </a:solidFill>
        </p:spPr>
      </p:sp>
      <p:sp>
        <p:nvSpPr>
          <p:cNvPr id="12" name="Text 10"/>
          <p:cNvSpPr/>
          <p:nvPr/>
        </p:nvSpPr>
        <p:spPr>
          <a:xfrm>
            <a:off x="5029200" y="175564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场景参数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2286000"/>
            <a:ext cx="54864" cy="274320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14" name="Text 12"/>
          <p:cNvSpPr/>
          <p:nvPr/>
        </p:nvSpPr>
        <p:spPr>
          <a:xfrm>
            <a:off x="5212080" y="22860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8B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道路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228600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3.5km 三车道高速 (E0)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2688336"/>
            <a:ext cx="54864" cy="274320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17" name="Text 15"/>
          <p:cNvSpPr/>
          <p:nvPr/>
        </p:nvSpPr>
        <p:spPr>
          <a:xfrm>
            <a:off x="5212080" y="268833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8B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事故位置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2688336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车道1，3000~3200m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3090672"/>
            <a:ext cx="54864" cy="274320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20" name="Text 18"/>
          <p:cNvSpPr/>
          <p:nvPr/>
        </p:nvSpPr>
        <p:spPr>
          <a:xfrm>
            <a:off x="5212080" y="309067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8B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CAV渗透率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35040" y="309067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0%~100% 连续可调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3493008"/>
            <a:ext cx="54864" cy="274320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23" name="Text 21"/>
          <p:cNvSpPr/>
          <p:nvPr/>
        </p:nvSpPr>
        <p:spPr>
          <a:xfrm>
            <a:off x="5212080" y="34930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8B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交通密度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5040" y="349300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1200/2000/2800/3600 pcu/h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0" y="3895344"/>
            <a:ext cx="54864" cy="274320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26" name="Text 24"/>
          <p:cNvSpPr/>
          <p:nvPr/>
        </p:nvSpPr>
        <p:spPr>
          <a:xfrm>
            <a:off x="5212080" y="389534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8B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仿真时长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0" y="3895344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360s (3600步), 步长0.1s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3" name="Shape 1"/>
          <p:cNvSpPr/>
          <p:nvPr/>
        </p:nvSpPr>
        <p:spPr>
          <a:xfrm>
            <a:off x="731520" y="457200"/>
            <a:ext cx="1645920" cy="301752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4" name="Text 2"/>
          <p:cNvSpPr/>
          <p:nvPr/>
        </p:nvSpPr>
        <p:spPr>
          <a:xfrm>
            <a:off x="731520" y="457200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场景设计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事故时间线与混合交通构成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7680960" cy="59436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91640"/>
            <a:ext cx="2560320" cy="594360"/>
          </a:xfrm>
          <a:prstGeom prst="rect">
            <a:avLst/>
          </a:prstGeom>
          <a:solidFill>
            <a:srgbClr val="2D8B8B">
              <a:alpha val="15000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822960" y="170992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正常行驶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011680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 &lt; 90s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54680" y="1920240"/>
            <a:ext cx="228600" cy="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91840" y="1691640"/>
            <a:ext cx="2560320" cy="594360"/>
          </a:xfrm>
          <a:prstGeom prst="rect">
            <a:avLst/>
          </a:prstGeom>
          <a:solidFill>
            <a:srgbClr val="D4A373">
              <a:alpha val="15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3291840" y="1783080"/>
            <a:ext cx="27432" cy="411480"/>
          </a:xfrm>
          <a:prstGeom prst="rect">
            <a:avLst/>
          </a:prstGeom>
          <a:solidFill>
            <a:srgbClr val="D4A373"/>
          </a:solidFill>
        </p:spPr>
      </p:sp>
      <p:sp>
        <p:nvSpPr>
          <p:cNvPr id="13" name="Text 11"/>
          <p:cNvSpPr/>
          <p:nvPr/>
        </p:nvSpPr>
        <p:spPr>
          <a:xfrm>
            <a:off x="3383280" y="170992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突发期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011680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90~100s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15000" y="1920240"/>
            <a:ext cx="228600" cy="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852160" y="1691640"/>
            <a:ext cx="2560320" cy="594360"/>
          </a:xfrm>
          <a:prstGeom prst="rect">
            <a:avLst/>
          </a:prstGeom>
          <a:solidFill>
            <a:srgbClr val="4A7C8B">
              <a:alpha val="15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5852160" y="1783080"/>
            <a:ext cx="27432" cy="411480"/>
          </a:xfrm>
          <a:prstGeom prst="rect">
            <a:avLst/>
          </a:prstGeom>
          <a:solidFill>
            <a:srgbClr val="4A7C8B"/>
          </a:solidFill>
        </p:spPr>
      </p:sp>
      <p:sp>
        <p:nvSpPr>
          <p:cNvPr id="18" name="Text 16"/>
          <p:cNvSpPr/>
          <p:nvPr/>
        </p:nvSpPr>
        <p:spPr>
          <a:xfrm>
            <a:off x="5943600" y="170992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有序疏散期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0" y="2011680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100s+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2514600"/>
            <a:ext cx="2606040" cy="64008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2514600"/>
            <a:ext cx="45720" cy="640080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22" name="Text 20"/>
          <p:cNvSpPr/>
          <p:nvPr/>
        </p:nvSpPr>
        <p:spPr>
          <a:xfrm>
            <a:off x="868680" y="256032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V2X: 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" y="283464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行为: CACC 类自适应巡航跟驰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11880" y="2514600"/>
            <a:ext cx="2606040" cy="64008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11880" y="2514600"/>
            <a:ext cx="45720" cy="640080"/>
          </a:xfrm>
          <a:prstGeom prst="rect">
            <a:avLst/>
          </a:prstGeom>
          <a:solidFill>
            <a:srgbClr val="D4A373"/>
          </a:solidFill>
        </p:spPr>
      </p:sp>
      <p:sp>
        <p:nvSpPr>
          <p:cNvPr id="26" name="Text 24"/>
          <p:cNvSpPr/>
          <p:nvPr/>
        </p:nvSpPr>
        <p:spPr>
          <a:xfrm>
            <a:off x="3749040" y="256032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V2X: 局部 500m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49040" y="283464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行为: 高紧迫度换道需求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92240" y="2514600"/>
            <a:ext cx="2606040" cy="64008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92240" y="2514600"/>
            <a:ext cx="45720" cy="640080"/>
          </a:xfrm>
          <a:prstGeom prst="rect">
            <a:avLst/>
          </a:prstGeom>
          <a:solidFill>
            <a:srgbClr val="4A7C8B"/>
          </a:solidFill>
        </p:spPr>
      </p:sp>
      <p:sp>
        <p:nvSpPr>
          <p:cNvPr id="30" name="Text 28"/>
          <p:cNvSpPr/>
          <p:nvPr/>
        </p:nvSpPr>
        <p:spPr>
          <a:xfrm>
            <a:off x="6629400" y="256032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V2X: 全局广播 1200m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29400" y="283464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行为: 充足换道规划时间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" y="33832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8B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混合交通构成</a:t>
            </a:r>
            <a:endParaRPr lang="en-US" sz="14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/>
        </p:nvGraphicFramePr>
        <p:xfrm>
          <a:off x="731520" y="3703320"/>
          <a:ext cx="7680960" cy="1225296"/>
        </p:xfrm>
        <a:graphic>
          <a:graphicData uri="http://schemas.openxmlformats.org/drawingml/2006/table">
            <a:tbl>
              <a:tblPr/>
              <a:tblGrid>
                <a:gridCol w="1188720"/>
                <a:gridCol w="1828800"/>
                <a:gridCol w="1005840"/>
                <a:gridCol w="640080"/>
                <a:gridCol w="731520"/>
                <a:gridCol w="1005840"/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车辆类型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B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换道决策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B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跟驰模型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B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V2X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B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协同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B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占比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B8B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CAV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混合博弈(8维特征)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CACC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8B8B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✓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8B8B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✓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p%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人类-保守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SL2015(σ=0.3)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Krauss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44545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✗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44545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✗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33%(1-p)%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人类-普通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SL2015(σ=0.5)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Krauss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44545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✗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44545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✗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33%(1-p)%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人类-激进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SL2015(σ=0.7)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Krauss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44545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✗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44545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  <a:sym typeface="+mn-ea"/>
                        </a:rPr>
                        <a:t>✗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33%(1-p)%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3" name="Shape 1"/>
          <p:cNvSpPr/>
          <p:nvPr/>
        </p:nvSpPr>
        <p:spPr>
          <a:xfrm>
            <a:off x="731520" y="457200"/>
            <a:ext cx="1645920" cy="301752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4" name="Text 2"/>
          <p:cNvSpPr/>
          <p:nvPr/>
        </p:nvSpPr>
        <p:spPr>
          <a:xfrm>
            <a:off x="731520" y="457200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技术路线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CAV换道决策流程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560320" cy="1371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64008" cy="1371600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8" name="Shape 6"/>
          <p:cNvSpPr/>
          <p:nvPr/>
        </p:nvSpPr>
        <p:spPr>
          <a:xfrm>
            <a:off x="731520" y="1700784"/>
            <a:ext cx="822960" cy="164592"/>
          </a:xfrm>
          <a:prstGeom prst="rect">
            <a:avLst/>
          </a:prstGeom>
          <a:solidFill>
            <a:srgbClr val="2D8B8B">
              <a:alpha val="20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731520" y="1700784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D8B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感知层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31520" y="1901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① 感知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176272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V2X通信模型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5%丢包·0.1s延迟·±5%噪声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27248" y="2240280"/>
            <a:ext cx="237744" cy="0"/>
          </a:xfrm>
          <a:prstGeom prst="line">
            <a:avLst/>
          </a:prstGeom>
          <a:noFill/>
          <a:ln w="31750">
            <a:solidFill>
              <a:srgbClr val="2D8B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383280" y="1645920"/>
            <a:ext cx="2560320" cy="1371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1645920"/>
            <a:ext cx="64008" cy="1371600"/>
          </a:xfrm>
          <a:prstGeom prst="rect">
            <a:avLst/>
          </a:prstGeom>
          <a:solidFill>
            <a:srgbClr val="4A7C8B"/>
          </a:solidFill>
        </p:spPr>
      </p:sp>
      <p:sp>
        <p:nvSpPr>
          <p:cNvPr id="15" name="Shape 13"/>
          <p:cNvSpPr/>
          <p:nvPr/>
        </p:nvSpPr>
        <p:spPr>
          <a:xfrm>
            <a:off x="3566160" y="1700784"/>
            <a:ext cx="822960" cy="164592"/>
          </a:xfrm>
          <a:prstGeom prst="rect">
            <a:avLst/>
          </a:prstGeom>
          <a:solidFill>
            <a:srgbClr val="2D8B8B">
              <a:alpha val="20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3566160" y="1700784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D8B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感知层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566160" y="1901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② 安全门控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66160" y="2176272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间距门控+TTC(1.5~2.0s)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紧急制动覆盖(240m/95m)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61888" y="2240280"/>
            <a:ext cx="237744" cy="0"/>
          </a:xfrm>
          <a:prstGeom prst="line">
            <a:avLst/>
          </a:prstGeom>
          <a:noFill/>
          <a:ln w="31750">
            <a:solidFill>
              <a:srgbClr val="2D8B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626864" y="3035808"/>
            <a:ext cx="0" cy="274320"/>
          </a:xfrm>
          <a:prstGeom prst="line">
            <a:avLst/>
          </a:prstGeom>
          <a:noFill/>
          <a:ln w="31750">
            <a:solidFill>
              <a:srgbClr val="2D8B8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217920" y="1645920"/>
            <a:ext cx="2560320" cy="1371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1645920"/>
            <a:ext cx="64008" cy="1371600"/>
          </a:xfrm>
          <a:prstGeom prst="rect">
            <a:avLst/>
          </a:prstGeom>
          <a:solidFill>
            <a:srgbClr val="6B5B8A"/>
          </a:solidFill>
        </p:spPr>
      </p:sp>
      <p:sp>
        <p:nvSpPr>
          <p:cNvPr id="23" name="Shape 21"/>
          <p:cNvSpPr/>
          <p:nvPr/>
        </p:nvSpPr>
        <p:spPr>
          <a:xfrm>
            <a:off x="6400800" y="1700784"/>
            <a:ext cx="822960" cy="164592"/>
          </a:xfrm>
          <a:prstGeom prst="rect">
            <a:avLst/>
          </a:prstGeom>
          <a:solidFill>
            <a:srgbClr val="D4A373">
              <a:alpha val="20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6400800" y="1700784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4A37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决策层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400800" y="1901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③ 特征提取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2176272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8维原子特征向量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场景自适应权重调整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3337560"/>
            <a:ext cx="2560320" cy="1371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3337560"/>
            <a:ext cx="64008" cy="1371600"/>
          </a:xfrm>
          <a:prstGeom prst="rect">
            <a:avLst/>
          </a:prstGeom>
          <a:solidFill>
            <a:srgbClr val="D4A373"/>
          </a:solidFill>
        </p:spPr>
      </p:sp>
      <p:sp>
        <p:nvSpPr>
          <p:cNvPr id="29" name="Shape 27"/>
          <p:cNvSpPr/>
          <p:nvPr/>
        </p:nvSpPr>
        <p:spPr>
          <a:xfrm>
            <a:off x="731520" y="3392424"/>
            <a:ext cx="822960" cy="164592"/>
          </a:xfrm>
          <a:prstGeom prst="rect">
            <a:avLst/>
          </a:prstGeom>
          <a:solidFill>
            <a:srgbClr val="D4A373">
              <a:alpha val="20000"/>
            </a:srgbClr>
          </a:solidFill>
        </p:spPr>
      </p:sp>
      <p:sp>
        <p:nvSpPr>
          <p:cNvPr id="30" name="Text 28"/>
          <p:cNvSpPr/>
          <p:nvPr/>
        </p:nvSpPr>
        <p:spPr>
          <a:xfrm>
            <a:off x="731520" y="3392424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4A37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决策层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31520" y="35935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④ 博弈求解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31520" y="3867912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按后车类型分发3种博弈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渗透率自适应阈值判断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127248" y="3931920"/>
            <a:ext cx="237744" cy="0"/>
          </a:xfrm>
          <a:prstGeom prst="line">
            <a:avLst/>
          </a:prstGeom>
          <a:noFill/>
          <a:ln w="31750">
            <a:solidFill>
              <a:srgbClr val="2D8B8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383280" y="3337560"/>
            <a:ext cx="2560320" cy="1371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383280" y="3337560"/>
            <a:ext cx="64008" cy="1371600"/>
          </a:xfrm>
          <a:prstGeom prst="rect">
            <a:avLst/>
          </a:prstGeom>
          <a:solidFill>
            <a:srgbClr val="1E6B6B"/>
          </a:solidFill>
        </p:spPr>
      </p:sp>
      <p:sp>
        <p:nvSpPr>
          <p:cNvPr id="36" name="Shape 34"/>
          <p:cNvSpPr/>
          <p:nvPr/>
        </p:nvSpPr>
        <p:spPr>
          <a:xfrm>
            <a:off x="3566160" y="3392424"/>
            <a:ext cx="822960" cy="164592"/>
          </a:xfrm>
          <a:prstGeom prst="rect">
            <a:avLst/>
          </a:prstGeom>
          <a:solidFill>
            <a:srgbClr val="4A7C8B">
              <a:alpha val="20000"/>
            </a:srgbClr>
          </a:solidFill>
        </p:spPr>
      </p:sp>
      <p:sp>
        <p:nvSpPr>
          <p:cNvPr id="37" name="Text 35"/>
          <p:cNvSpPr/>
          <p:nvPr/>
        </p:nvSpPr>
        <p:spPr>
          <a:xfrm>
            <a:off x="3566160" y="3392424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4A7C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执行层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566160" y="35935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⑤ 换道执行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566160" y="3867912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三阶段状态机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准备→执行→稳定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61888" y="3931920"/>
            <a:ext cx="237744" cy="0"/>
          </a:xfrm>
          <a:prstGeom prst="line">
            <a:avLst/>
          </a:prstGeom>
          <a:noFill/>
          <a:ln w="31750">
            <a:solidFill>
              <a:srgbClr val="2D8B8B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217920" y="3337560"/>
            <a:ext cx="2560320" cy="1371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17920" y="3337560"/>
            <a:ext cx="64008" cy="1371600"/>
          </a:xfrm>
          <a:prstGeom prst="rect">
            <a:avLst/>
          </a:prstGeom>
          <a:solidFill>
            <a:srgbClr val="C44545"/>
          </a:solidFill>
        </p:spPr>
      </p:sp>
      <p:sp>
        <p:nvSpPr>
          <p:cNvPr id="43" name="Shape 41"/>
          <p:cNvSpPr/>
          <p:nvPr/>
        </p:nvSpPr>
        <p:spPr>
          <a:xfrm>
            <a:off x="6400800" y="3392424"/>
            <a:ext cx="822960" cy="164592"/>
          </a:xfrm>
          <a:prstGeom prst="rect">
            <a:avLst/>
          </a:prstGeom>
          <a:solidFill>
            <a:srgbClr val="4A7C8B">
              <a:alpha val="20000"/>
            </a:srgbClr>
          </a:solidFill>
        </p:spPr>
      </p:sp>
      <p:sp>
        <p:nvSpPr>
          <p:cNvPr id="44" name="Text 42"/>
          <p:cNvSpPr/>
          <p:nvPr/>
        </p:nvSpPr>
        <p:spPr>
          <a:xfrm>
            <a:off x="6400800" y="3392424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4A7C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执行层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400800" y="35935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⑥ 在线学习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400800" y="3867912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TD微调权重 lr=0.003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成功奖励·急刹惩罚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4" name="Text 2"/>
          <p:cNvSpPr/>
          <p:nvPr/>
        </p:nvSpPr>
        <p:spPr>
          <a:xfrm>
            <a:off x="457200" y="1188720"/>
            <a:ext cx="22860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Part 2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828800" cy="0"/>
          </a:xfrm>
          <a:prstGeom prst="line">
            <a:avLst/>
          </a:prstGeom>
          <a:noFill/>
          <a:ln w="19050">
            <a:solidFill>
              <a:srgbClr val="2D8B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65176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博弈换道模型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8维原子特征空间 · 混合博弈求解器 · 逆强化学习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0" y="731520"/>
            <a:ext cx="1645920" cy="1645920"/>
          </a:xfrm>
          <a:prstGeom prst="ellipse">
            <a:avLst/>
          </a:prstGeom>
          <a:solidFill>
            <a:srgbClr val="2D8B8B">
              <a:alpha val="15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1E6B6B">
              <a:alpha val="15000"/>
            </a:srgbClr>
          </a:solid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3" name="Shape 1"/>
          <p:cNvSpPr/>
          <p:nvPr/>
        </p:nvSpPr>
        <p:spPr>
          <a:xfrm>
            <a:off x="731520" y="457200"/>
            <a:ext cx="1645920" cy="301752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4" name="Text 2"/>
          <p:cNvSpPr/>
          <p:nvPr/>
        </p:nvSpPr>
        <p:spPr>
          <a:xfrm>
            <a:off x="731520" y="457200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核心创新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主要创新点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2651760" cy="141732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194560" y="1719072"/>
            <a:ext cx="777240" cy="219456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8" name="Text 6"/>
          <p:cNvSpPr/>
          <p:nvPr/>
        </p:nvSpPr>
        <p:spPr>
          <a:xfrm>
            <a:off x="2194560" y="1719072"/>
            <a:ext cx="777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原创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171907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8维原子特征空间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速度/紧迫度/压力/安全/协同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社会冲击/密度/换道代价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645920"/>
            <a:ext cx="2651760" cy="141732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74920" y="1719072"/>
            <a:ext cx="777240" cy="219456"/>
          </a:xfrm>
          <a:prstGeom prst="rect">
            <a:avLst/>
          </a:prstGeom>
          <a:solidFill>
            <a:srgbClr val="4A7C8B"/>
          </a:solidFill>
        </p:spPr>
      </p:sp>
      <p:sp>
        <p:nvSpPr>
          <p:cNvPr id="13" name="Text 11"/>
          <p:cNvSpPr/>
          <p:nvPr/>
        </p:nvSpPr>
        <p:spPr>
          <a:xfrm>
            <a:off x="5074920" y="1719072"/>
            <a:ext cx="777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Huang 2024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0" y="171907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混合博弈求解器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210312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3种后车类型 × 3种博弈结构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静态Nash/Stackelberg/合作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645920"/>
            <a:ext cx="2651760" cy="141732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55280" y="1719072"/>
            <a:ext cx="777240" cy="219456"/>
          </a:xfrm>
          <a:prstGeom prst="rect">
            <a:avLst/>
          </a:prstGeom>
          <a:solidFill>
            <a:srgbClr val="6B5B8A"/>
          </a:solidFill>
        </p:spPr>
      </p:sp>
      <p:sp>
        <p:nvSpPr>
          <p:cNvPr id="18" name="Text 16"/>
          <p:cNvSpPr/>
          <p:nvPr/>
        </p:nvSpPr>
        <p:spPr>
          <a:xfrm>
            <a:off x="7955280" y="1719072"/>
            <a:ext cx="777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原创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355080" y="171907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Social Impact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210312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量化换道对后车TTC缩减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非零和博弈建模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337560"/>
            <a:ext cx="2651760" cy="141732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194560" y="3410712"/>
            <a:ext cx="777240" cy="219456"/>
          </a:xfrm>
          <a:prstGeom prst="rect">
            <a:avLst/>
          </a:prstGeom>
          <a:solidFill>
            <a:srgbClr val="D4A373"/>
          </a:solidFill>
        </p:spPr>
      </p:sp>
      <p:sp>
        <p:nvSpPr>
          <p:cNvPr id="23" name="Text 21"/>
          <p:cNvSpPr/>
          <p:nvPr/>
        </p:nvSpPr>
        <p:spPr>
          <a:xfrm>
            <a:off x="2194560" y="3410712"/>
            <a:ext cx="777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Li 2024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94360" y="341071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MaxEnt IRL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379476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AD4CHE数据集(360万帧)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学习8维权重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37560" y="3337560"/>
            <a:ext cx="2651760" cy="141732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74920" y="3410712"/>
            <a:ext cx="777240" cy="219456"/>
          </a:xfrm>
          <a:prstGeom prst="rect">
            <a:avLst/>
          </a:prstGeom>
          <a:solidFill>
            <a:srgbClr val="1E6B6B"/>
          </a:solidFill>
        </p:spPr>
      </p:sp>
      <p:sp>
        <p:nvSpPr>
          <p:cNvPr id="28" name="Text 26"/>
          <p:cNvSpPr/>
          <p:nvPr/>
        </p:nvSpPr>
        <p:spPr>
          <a:xfrm>
            <a:off x="5074920" y="3410712"/>
            <a:ext cx="777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原创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474720" y="341071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三阶段状态机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474720" y="379476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准备→执行→稳定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安全复查+在线TD微调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3337560"/>
            <a:ext cx="2651760" cy="141732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955280" y="3410712"/>
            <a:ext cx="777240" cy="219456"/>
          </a:xfrm>
          <a:prstGeom prst="rect">
            <a:avLst/>
          </a:prstGeom>
          <a:solidFill>
            <a:srgbClr val="4A7C8B"/>
          </a:solidFill>
        </p:spPr>
      </p:sp>
      <p:sp>
        <p:nvSpPr>
          <p:cNvPr id="33" name="Text 31"/>
          <p:cNvSpPr/>
          <p:nvPr/>
        </p:nvSpPr>
        <p:spPr>
          <a:xfrm>
            <a:off x="7955280" y="3410712"/>
            <a:ext cx="777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方法论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355080" y="341071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消融实验框架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55080" y="379476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3层消融(L1/L2/L3)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逐层量化模块贡献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3" name="Shape 1"/>
          <p:cNvSpPr/>
          <p:nvPr/>
        </p:nvSpPr>
        <p:spPr>
          <a:xfrm>
            <a:off x="731520" y="457200"/>
            <a:ext cx="1645920" cy="301752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4" name="Text 2"/>
          <p:cNvSpPr/>
          <p:nvPr/>
        </p:nvSpPr>
        <p:spPr>
          <a:xfrm>
            <a:off x="731520" y="457200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博弈模型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8维原子特征空间与收益函数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solidFill>
            <a:srgbClr val="A8DADC"/>
          </a:solidFill>
        </p:spPr>
      </p:sp>
      <p:sp>
        <p:nvSpPr>
          <p:cNvPr id="7" name="Text 5"/>
          <p:cNvSpPr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payoff(a, fa) = w_adapt · f(a, fa) − lc_cost · I(a=换道)    [收益矩阵 2×3]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457200" y="2286000"/>
          <a:ext cx="5029200" cy="1847088"/>
        </p:xfrm>
        <a:graphic>
          <a:graphicData uri="http://schemas.openxmlformats.org/drawingml/2006/table">
            <a:tbl>
              <a:tblPr/>
              <a:tblGrid>
                <a:gridCol w="365760"/>
                <a:gridCol w="731520"/>
                <a:gridCol w="2011680"/>
                <a:gridCol w="1645920"/>
              </a:tblGrid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维</a:t>
                      </a:r>
                      <a:endParaRPr lang="en-US" sz="8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B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特征</a:t>
                      </a:r>
                      <a:endParaRPr lang="en-US" sz="8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B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换道时</a:t>
                      </a:r>
                      <a:endParaRPr lang="en-US" sz="8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B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不换道时</a:t>
                      </a:r>
                      <a:endParaRPr lang="en-US" sz="8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B8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</a:t>
                      </a:r>
                      <a:endParaRPr lang="en-US" sz="8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speed</a:t>
                      </a:r>
                      <a:endParaRPr lang="en-US" sz="8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目标车道前车速度/v_max</a:t>
                      </a:r>
                      <a:endParaRPr lang="en-US" sz="8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自车速度/v_max</a:t>
                      </a:r>
                      <a:endParaRPr lang="en-US" sz="8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</a:t>
                      </a:r>
                      <a:endParaRPr lang="en-US" sz="8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urgency</a:t>
                      </a:r>
                      <a:endParaRPr lang="en-US" sz="8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距事故归一化距离(0~1)</a:t>
                      </a:r>
                      <a:endParaRPr lang="en-US" sz="8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</a:t>
                      </a:r>
                      <a:endParaRPr lang="en-US" sz="8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</a:t>
                      </a:r>
                      <a:endParaRPr lang="en-US" sz="8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pressure</a:t>
                      </a:r>
                      <a:endParaRPr lang="en-US" sz="8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当前车道头距压力(0~1)</a:t>
                      </a:r>
                      <a:endParaRPr lang="en-US" sz="8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</a:t>
                      </a:r>
                      <a:endParaRPr lang="en-US" sz="8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</a:t>
                      </a:r>
                      <a:endParaRPr lang="en-US" sz="8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safe</a:t>
                      </a:r>
                      <a:endParaRPr lang="en-US" sz="8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min(前TTC安全,后TTC安全)</a:t>
                      </a:r>
                      <a:endParaRPr lang="en-US" sz="8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前向TTC安全</a:t>
                      </a:r>
                      <a:endParaRPr lang="en-US" sz="8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4</a:t>
                      </a:r>
                      <a:endParaRPr lang="en-US" sz="8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coop</a:t>
                      </a:r>
                      <a:endParaRPr lang="en-US" sz="8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后车协同(0.18)+制动(0.12)</a:t>
                      </a:r>
                      <a:endParaRPr lang="en-US" sz="8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0.05</a:t>
                      </a:r>
                      <a:endParaRPr lang="en-US" sz="8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5</a:t>
                      </a:r>
                      <a:endParaRPr lang="en-US" sz="8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social</a:t>
                      </a:r>
                      <a:endParaRPr lang="en-US" sz="8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对后车TTC缩减比(0~1)</a:t>
                      </a:r>
                      <a:endParaRPr lang="en-US" sz="8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</a:t>
                      </a:r>
                      <a:endParaRPr lang="en-US" sz="8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6</a:t>
                      </a:r>
                      <a:endParaRPr lang="en-US" sz="8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density</a:t>
                      </a:r>
                      <a:endParaRPr lang="en-US" sz="8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局部车流密度(0~1)</a:t>
                      </a:r>
                      <a:endParaRPr lang="en-US" sz="8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</a:t>
                      </a:r>
                      <a:endParaRPr lang="en-US" sz="8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7</a:t>
                      </a:r>
                      <a:endParaRPr lang="en-US" sz="8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lc_cost</a:t>
                      </a:r>
                      <a:endParaRPr lang="en-US" sz="8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1.0</a:t>
                      </a:r>
                      <a:endParaRPr lang="en-US" sz="8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0.0</a:t>
                      </a:r>
                      <a:endParaRPr lang="en-US" sz="8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  <p:sp>
        <p:nvSpPr>
          <p:cNvPr id="8" name="Shape 6"/>
          <p:cNvSpPr/>
          <p:nvPr/>
        </p:nvSpPr>
        <p:spPr>
          <a:xfrm>
            <a:off x="5669280" y="2286000"/>
            <a:ext cx="3017520" cy="228600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0" y="2286000"/>
            <a:ext cx="3017520" cy="274320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11" name="Text 8"/>
          <p:cNvSpPr/>
          <p:nvPr/>
        </p:nvSpPr>
        <p:spPr>
          <a:xfrm>
            <a:off x="5760720" y="22860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IRL 权重分布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806440" y="26974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speed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537960" y="2724912"/>
            <a:ext cx="372291" cy="128016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14" name="Text 11"/>
          <p:cNvSpPr/>
          <p:nvPr/>
        </p:nvSpPr>
        <p:spPr>
          <a:xfrm>
            <a:off x="6955971" y="269748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0.15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5806440" y="2916936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urgency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537960" y="2944368"/>
            <a:ext cx="471569" cy="128016"/>
          </a:xfrm>
          <a:prstGeom prst="rect">
            <a:avLst/>
          </a:prstGeom>
          <a:solidFill>
            <a:srgbClr val="4A7C8B"/>
          </a:solidFill>
        </p:spPr>
      </p:sp>
      <p:sp>
        <p:nvSpPr>
          <p:cNvPr id="17" name="Text 14"/>
          <p:cNvSpPr/>
          <p:nvPr/>
        </p:nvSpPr>
        <p:spPr>
          <a:xfrm>
            <a:off x="7055249" y="2916936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0.19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5806440" y="313639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pressure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537960" y="3163824"/>
            <a:ext cx="446750" cy="128016"/>
          </a:xfrm>
          <a:prstGeom prst="rect">
            <a:avLst/>
          </a:prstGeom>
          <a:solidFill>
            <a:srgbClr val="6B5B8A"/>
          </a:solidFill>
        </p:spPr>
      </p:sp>
      <p:sp>
        <p:nvSpPr>
          <p:cNvPr id="20" name="Text 17"/>
          <p:cNvSpPr/>
          <p:nvPr/>
        </p:nvSpPr>
        <p:spPr>
          <a:xfrm>
            <a:off x="7030430" y="313639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0.18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5806440" y="3355848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safe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537960" y="3383280"/>
            <a:ext cx="620486" cy="128016"/>
          </a:xfrm>
          <a:prstGeom prst="rect">
            <a:avLst/>
          </a:prstGeom>
          <a:solidFill>
            <a:srgbClr val="D4A373"/>
          </a:solidFill>
        </p:spPr>
      </p:sp>
      <p:sp>
        <p:nvSpPr>
          <p:cNvPr id="23" name="Text 20"/>
          <p:cNvSpPr/>
          <p:nvPr/>
        </p:nvSpPr>
        <p:spPr>
          <a:xfrm>
            <a:off x="7204166" y="335584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0.25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806440" y="3575304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coop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537960" y="3602736"/>
            <a:ext cx="49639" cy="128016"/>
          </a:xfrm>
          <a:prstGeom prst="rect">
            <a:avLst/>
          </a:prstGeom>
          <a:solidFill>
            <a:srgbClr val="A8DADC"/>
          </a:solidFill>
        </p:spPr>
      </p:sp>
      <p:sp>
        <p:nvSpPr>
          <p:cNvPr id="26" name="Text 23"/>
          <p:cNvSpPr/>
          <p:nvPr/>
        </p:nvSpPr>
        <p:spPr>
          <a:xfrm>
            <a:off x="6633319" y="3575304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0.02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5806440" y="379476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social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6537960" y="3822192"/>
            <a:ext cx="0" cy="128016"/>
          </a:xfrm>
          <a:prstGeom prst="rect">
            <a:avLst/>
          </a:prstGeom>
          <a:solidFill>
            <a:srgbClr val="5C6B7A"/>
          </a:solidFill>
        </p:spPr>
      </p:sp>
      <p:sp>
        <p:nvSpPr>
          <p:cNvPr id="29" name="Text 26"/>
          <p:cNvSpPr/>
          <p:nvPr/>
        </p:nvSpPr>
        <p:spPr>
          <a:xfrm>
            <a:off x="6583680" y="379476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0.00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806440" y="4014216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density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6537960" y="4041648"/>
            <a:ext cx="273014" cy="128016"/>
          </a:xfrm>
          <a:prstGeom prst="rect">
            <a:avLst/>
          </a:prstGeom>
          <a:solidFill>
            <a:srgbClr val="1E6B6B"/>
          </a:solidFill>
        </p:spPr>
      </p:sp>
      <p:sp>
        <p:nvSpPr>
          <p:cNvPr id="32" name="Text 29"/>
          <p:cNvSpPr/>
          <p:nvPr/>
        </p:nvSpPr>
        <p:spPr>
          <a:xfrm>
            <a:off x="6856694" y="4014216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0.11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5806440" y="423367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lc_cost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6537960" y="4261104"/>
            <a:ext cx="1737360" cy="128016"/>
          </a:xfrm>
          <a:prstGeom prst="rect">
            <a:avLst/>
          </a:prstGeom>
          <a:solidFill>
            <a:srgbClr val="C44545"/>
          </a:solidFill>
        </p:spPr>
      </p:sp>
      <p:sp>
        <p:nvSpPr>
          <p:cNvPr id="35" name="Text 32"/>
          <p:cNvSpPr/>
          <p:nvPr/>
        </p:nvSpPr>
        <p:spPr>
          <a:xfrm>
            <a:off x="8321040" y="423367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0.70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lc_cost=0.70主导: 真人天生不爱换道 | safe=0.25次高: 安全是普遍考虑 | speed仅0.15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3" name="Shape 1"/>
          <p:cNvSpPr/>
          <p:nvPr/>
        </p:nvSpPr>
        <p:spPr>
          <a:xfrm>
            <a:off x="731520" y="457200"/>
            <a:ext cx="1645920" cy="301752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4" name="Text 2"/>
          <p:cNvSpPr/>
          <p:nvPr/>
        </p:nvSpPr>
        <p:spPr>
          <a:xfrm>
            <a:off x="731520" y="457200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博弈模型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混合博弈求解器与后车异质性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474720" y="1554480"/>
            <a:ext cx="2194560" cy="411480"/>
          </a:xfrm>
          <a:prstGeom prst="roundRect">
            <a:avLst>
              <a:gd name="adj" fmla="val 22222"/>
            </a:avLst>
          </a:prstGeom>
          <a:solidFill>
            <a:srgbClr val="1A2332"/>
          </a:solidFill>
        </p:spPr>
      </p:sp>
      <p:sp>
        <p:nvSpPr>
          <p:cNvPr id="7" name="Text 5"/>
          <p:cNvSpPr/>
          <p:nvPr/>
        </p:nvSpPr>
        <p:spPr>
          <a:xfrm>
            <a:off x="3474720" y="155448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solve_hybrid_game()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1938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A373"/>
                </a:solidFill>
              </a:rPr>
              <a:t>▾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43400" y="1938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8B8B"/>
                </a:solidFill>
              </a:rPr>
              <a:t>▾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23760" y="1938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5B8A"/>
                </a:solidFill>
              </a:rPr>
              <a:t>▾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2651760" cy="23774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194560"/>
            <a:ext cx="2651760" cy="502920"/>
          </a:xfrm>
          <a:prstGeom prst="rect">
            <a:avLst/>
          </a:prstGeom>
          <a:solidFill>
            <a:srgbClr val="D4A373"/>
          </a:solidFill>
        </p:spPr>
      </p:sp>
      <p:sp>
        <p:nvSpPr>
          <p:cNvPr id="13" name="Text 11"/>
          <p:cNvSpPr/>
          <p:nvPr/>
        </p:nvSpPr>
        <p:spPr>
          <a:xfrm>
            <a:off x="594360" y="224028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Type 0 自私型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450592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8346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静态 Nash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3154680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双方同时决策，4轮迭代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交换softmax选择→混合策略均衡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84048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后车权重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94360" y="4069080"/>
            <a:ext cx="502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C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069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0.45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4360" y="429768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安全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1188720" y="4069080"/>
            <a:ext cx="502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C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4069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0.35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88720" y="429768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速度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1783080" y="4069080"/>
            <a:ext cx="502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C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83080" y="4069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0.20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783080" y="429768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舒适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2377440" y="4069080"/>
            <a:ext cx="502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C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77440" y="4069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0.00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377440" y="429768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协同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3337560" y="2194560"/>
            <a:ext cx="2651760" cy="23774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337560" y="2194560"/>
            <a:ext cx="2651760" cy="502920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32" name="Text 30"/>
          <p:cNvSpPr/>
          <p:nvPr/>
        </p:nvSpPr>
        <p:spPr>
          <a:xfrm>
            <a:off x="3474720" y="224028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Type 1 合作型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474720" y="2450592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60%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0" y="28346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Stackelberg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474720" y="3154680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本车领导宣布动作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后车观测后softmax最优反应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474720" y="384048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后车权重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474720" y="4069080"/>
            <a:ext cx="502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CD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0" y="4069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0.40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474720" y="429768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安全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4069080" y="4069080"/>
            <a:ext cx="502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C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69080" y="4069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0.25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069080" y="429768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速度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4663440" y="4069080"/>
            <a:ext cx="502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CD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4069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0.15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663440" y="429768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舒适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5257800" y="4069080"/>
            <a:ext cx="502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CD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57800" y="4069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0.20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257800" y="429768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协同</a:t>
            </a:r>
            <a:endParaRPr lang="en-US" sz="600" dirty="0"/>
          </a:p>
        </p:txBody>
      </p:sp>
      <p:sp>
        <p:nvSpPr>
          <p:cNvPr id="49" name="Shape 47"/>
          <p:cNvSpPr/>
          <p:nvPr/>
        </p:nvSpPr>
        <p:spPr>
          <a:xfrm>
            <a:off x="6217920" y="2194560"/>
            <a:ext cx="2651760" cy="23774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217920" y="2194560"/>
            <a:ext cx="2651760" cy="502920"/>
          </a:xfrm>
          <a:prstGeom prst="rect">
            <a:avLst/>
          </a:prstGeom>
          <a:solidFill>
            <a:srgbClr val="6B5B8A"/>
          </a:solidFill>
        </p:spPr>
      </p:sp>
      <p:sp>
        <p:nvSpPr>
          <p:cNvPr id="51" name="Text 49"/>
          <p:cNvSpPr/>
          <p:nvPr/>
        </p:nvSpPr>
        <p:spPr>
          <a:xfrm>
            <a:off x="6355080" y="224028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Type 2 高合作型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355080" y="2450592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20%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355080" y="28346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Nash 合作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355080" y="3154680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联合收益矩阵最大化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后车softmax配合最优联合动作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355080" y="384048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后车权重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355080" y="4069080"/>
            <a:ext cx="502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CD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55080" y="4069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0.35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355080" y="429768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安全</a:t>
            </a:r>
            <a:endParaRPr lang="en-US" sz="600" dirty="0"/>
          </a:p>
        </p:txBody>
      </p:sp>
      <p:sp>
        <p:nvSpPr>
          <p:cNvPr id="59" name="Shape 57"/>
          <p:cNvSpPr/>
          <p:nvPr/>
        </p:nvSpPr>
        <p:spPr>
          <a:xfrm>
            <a:off x="6949440" y="4069080"/>
            <a:ext cx="502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C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49440" y="4069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0.15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949440" y="429768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速度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7543800" y="4069080"/>
            <a:ext cx="502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CD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43800" y="4069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0.15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543800" y="429768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舒适</a:t>
            </a:r>
            <a:endParaRPr lang="en-US" sz="600" dirty="0"/>
          </a:p>
        </p:txBody>
      </p:sp>
      <p:sp>
        <p:nvSpPr>
          <p:cNvPr id="65" name="Shape 63"/>
          <p:cNvSpPr/>
          <p:nvPr/>
        </p:nvSpPr>
        <p:spPr>
          <a:xfrm>
            <a:off x="8138160" y="4069080"/>
            <a:ext cx="502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CD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138160" y="4069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0.35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8138160" y="429768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协同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后车收益 U_f = w_t · [safety, speed_ratio, comfort, coop, gap_safe] | Softmax温度=0.15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3" name="Shape 1"/>
          <p:cNvSpPr/>
          <p:nvPr/>
        </p:nvSpPr>
        <p:spPr>
          <a:xfrm>
            <a:off x="731520" y="457200"/>
            <a:ext cx="1645920" cy="301752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4" name="Text 2"/>
          <p:cNvSpPr/>
          <p:nvPr/>
        </p:nvSpPr>
        <p:spPr>
          <a:xfrm>
            <a:off x="731520" y="457200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自适应机制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低渗透率自适应机制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低CAV占比(0%~50%)时, 周围大多是不同博弈的人类车—三个机制协同应对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7680960" cy="82296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011680"/>
            <a:ext cx="73152" cy="822960"/>
          </a:xfrm>
          <a:prstGeom prst="rect">
            <a:avLst/>
          </a:prstGeom>
          <a:solidFill>
            <a:srgbClr val="D4A373"/>
          </a:solidFill>
        </p:spPr>
      </p:sp>
      <p:sp>
        <p:nvSpPr>
          <p:cNvPr id="9" name="Text 7"/>
          <p:cNvSpPr/>
          <p:nvPr/>
        </p:nvSpPr>
        <p:spPr>
          <a:xfrm>
            <a:off x="1005840" y="208483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⚡ 对抗性偏差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17520" y="2066544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问题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017520" y="2267712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人类车无V2X通信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不接受协同请求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2066544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方法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46320" y="2267712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先验: P(加速)+0.10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P(减速)-0.10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75120" y="2066544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效果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675120" y="2267712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不再天真假设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人类会配合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017520"/>
            <a:ext cx="7680960" cy="82296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017520"/>
            <a:ext cx="73152" cy="822960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18" name="Text 16"/>
          <p:cNvSpPr/>
          <p:nvPr/>
        </p:nvSpPr>
        <p:spPr>
          <a:xfrm>
            <a:off x="1005840" y="309067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↻ 互惠记忆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17520" y="3072384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问题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017520" y="3273552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人类行为不一致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单次博弈无法建模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3072384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方法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46320" y="3273552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跟踪合作历史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coop_score 动态调先验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75120" y="3072384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效果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675120" y="3273552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合作车加分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对抗车减分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4023360"/>
            <a:ext cx="7680960" cy="82296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4023360"/>
            <a:ext cx="73152" cy="822960"/>
          </a:xfrm>
          <a:prstGeom prst="rect">
            <a:avLst/>
          </a:prstGeom>
          <a:solidFill>
            <a:srgbClr val="6B5B8A"/>
          </a:solidFill>
        </p:spPr>
      </p:sp>
      <p:sp>
        <p:nvSpPr>
          <p:cNvPr id="27" name="Text 25"/>
          <p:cNvSpPr/>
          <p:nvPr/>
        </p:nvSpPr>
        <p:spPr>
          <a:xfrm>
            <a:off x="1005840" y="409651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▤ 渗透率自适应阈值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017520" y="4078224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问题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017520" y="4279392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低渗透时犹豫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错失换道间隙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4078224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方法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46320" y="4279392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min_gain = base ×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(1−0.6×(1−p))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75120" y="4078224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效果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675120" y="4279392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0%→0.4× 果断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100%→1.0× 正常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4" name="Text 2"/>
          <p:cNvSpPr/>
          <p:nvPr/>
        </p:nvSpPr>
        <p:spPr>
          <a:xfrm>
            <a:off x="457200" y="1188720"/>
            <a:ext cx="22860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Part 3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828800" cy="0"/>
          </a:xfrm>
          <a:prstGeom prst="line">
            <a:avLst/>
          </a:prstGeom>
          <a:noFill/>
          <a:ln w="19050">
            <a:solidFill>
              <a:srgbClr val="2D8B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65176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实验结果与消融分析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渗透率扫描 · 四模型对比 · 逐层消融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0" y="731520"/>
            <a:ext cx="1645920" cy="1645920"/>
          </a:xfrm>
          <a:prstGeom prst="ellipse">
            <a:avLst/>
          </a:prstGeom>
          <a:solidFill>
            <a:srgbClr val="2D8B8B">
              <a:alpha val="15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1E6B6B">
              <a:alpha val="15000"/>
            </a:srgbClr>
          </a:solid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3" name="Shape 1"/>
          <p:cNvSpPr/>
          <p:nvPr/>
        </p:nvSpPr>
        <p:spPr>
          <a:xfrm>
            <a:off x="731520" y="457200"/>
            <a:ext cx="1645920" cy="301752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4" name="Text 2"/>
          <p:cNvSpPr/>
          <p:nvPr/>
        </p:nvSpPr>
        <p:spPr>
          <a:xfrm>
            <a:off x="731520" y="457200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实验结果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渗透率扫描 — 通过车辆数趋势</a:t>
            </a:r>
            <a:endParaRPr lang="en-US" sz="2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554480"/>
          <a:ext cx="5943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583680" y="1554480"/>
            <a:ext cx="2286000" cy="320040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583680" y="1554480"/>
            <a:ext cx="2286000" cy="274320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9" name="Text 6"/>
          <p:cNvSpPr/>
          <p:nvPr/>
        </p:nvSpPr>
        <p:spPr>
          <a:xfrm>
            <a:off x="6675120" y="15544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关键发现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720840" y="1965960"/>
            <a:ext cx="2011680" cy="2560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D8B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渗透率不影响通过量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0%→10%→100% 各渗透率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下通过量无趋势性变化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D4A37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30% CAV 即获全部收益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无需等待高渗透率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D8B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零碰撞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Game 模型所有工况碰撞0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3" name="Shape 1"/>
          <p:cNvSpPr/>
          <p:nvPr/>
        </p:nvSpPr>
        <p:spPr>
          <a:xfrm>
            <a:off x="731520" y="457200"/>
            <a:ext cx="1645920" cy="301752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4" name="Text 2"/>
          <p:cNvSpPr/>
          <p:nvPr/>
        </p:nvSpPr>
        <p:spPr>
          <a:xfrm>
            <a:off x="731520" y="457200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实验结果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Game模型 — 渗透率扫描详细数据（更新）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731520" y="1645920"/>
          <a:ext cx="7680960" cy="1773936"/>
        </p:xfrm>
        <a:graphic>
          <a:graphicData uri="http://schemas.openxmlformats.org/drawingml/2006/table">
            <a:tbl>
              <a:tblPr/>
              <a:tblGrid>
                <a:gridCol w="1463040"/>
                <a:gridCol w="1554480"/>
                <a:gridCol w="1554480"/>
                <a:gridCol w="1554480"/>
                <a:gridCol w="1554480"/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渗透率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B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1200pcu/h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B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2000pcu/h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B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2800pcu/h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B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3600pcu/h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B8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D8B8B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0% (全人类)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77 / 0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109 / 0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F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97 / 0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F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61 / 0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E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D8B8B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10%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77 / 4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118 / 6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F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172 / 18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A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214 / 22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AD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D8B8B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30%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79 / 8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123 / 28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159 / 33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213 / 37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AD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D8B8B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50%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74 / 23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122 / 35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171 / 61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A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211 / 74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AD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D8B8B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70%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78 / 33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124 / 58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167 / 99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214 / 134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AD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D8B8B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100% (全CAV)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F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77 / 43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126 / 82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173 / 115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A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204 / 205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AD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356616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数据格式: 通过车辆数 / 换道次数 | 底色越深=通过量越高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31520" y="3840480"/>
            <a:ext cx="274320" cy="182880"/>
          </a:xfrm>
          <a:prstGeom prst="rect">
            <a:avLst/>
          </a:prstGeom>
          <a:solidFill>
            <a:srgbClr val="FCEAE8"/>
          </a:solidFill>
          <a:ln w="6350">
            <a:solidFill>
              <a:srgbClr val="D4DCD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3822192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&lt; 80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194560" y="3840480"/>
            <a:ext cx="274320" cy="182880"/>
          </a:xfrm>
          <a:prstGeom prst="rect">
            <a:avLst/>
          </a:prstGeom>
          <a:solidFill>
            <a:srgbClr val="DAEFEB"/>
          </a:solidFill>
          <a:ln w="6350">
            <a:solidFill>
              <a:srgbClr val="D4DCD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14600" y="3822192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80-120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657600" y="3840480"/>
            <a:ext cx="274320" cy="182880"/>
          </a:xfrm>
          <a:prstGeom prst="rect">
            <a:avLst/>
          </a:prstGeom>
          <a:solidFill>
            <a:srgbClr val="C6E9E0"/>
          </a:solidFill>
          <a:ln w="6350">
            <a:solidFill>
              <a:srgbClr val="D4DCD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77640" y="3822192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120-170</a:t>
            </a:r>
            <a:endParaRPr lang="en-US" sz="800" dirty="0"/>
          </a:p>
        </p:txBody>
      </p:sp>
      <p:sp>
        <p:nvSpPr>
          <p:cNvPr id="6" name="Shape 11"/>
          <p:cNvSpPr/>
          <p:nvPr/>
        </p:nvSpPr>
        <p:spPr>
          <a:xfrm>
            <a:off x="5120640" y="3840480"/>
            <a:ext cx="274320" cy="182880"/>
          </a:xfrm>
          <a:prstGeom prst="rect">
            <a:avLst/>
          </a:prstGeom>
          <a:solidFill>
            <a:srgbClr val="A8DADC"/>
          </a:solidFill>
          <a:ln w="6350">
            <a:solidFill>
              <a:srgbClr val="D4DC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40680" y="3822192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170+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31520" y="4206240"/>
            <a:ext cx="2606040" cy="59436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31520" y="4206240"/>
            <a:ext cx="54864" cy="594360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18" name="Text 15"/>
          <p:cNvSpPr/>
          <p:nvPr/>
        </p:nvSpPr>
        <p:spPr>
          <a:xfrm>
            <a:off x="868680" y="4233672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8B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691640" y="4233672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碰撞次数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691640" y="4434840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所有工况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3611880" y="4206240"/>
            <a:ext cx="2606040" cy="59436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611880" y="4206240"/>
            <a:ext cx="54864" cy="594360"/>
          </a:xfrm>
          <a:prstGeom prst="rect">
            <a:avLst/>
          </a:prstGeom>
          <a:solidFill>
            <a:srgbClr val="D4A373"/>
          </a:solidFill>
        </p:spPr>
      </p:sp>
      <p:sp>
        <p:nvSpPr>
          <p:cNvPr id="23" name="Text 20"/>
          <p:cNvSpPr/>
          <p:nvPr/>
        </p:nvSpPr>
        <p:spPr>
          <a:xfrm>
            <a:off x="3749040" y="4233672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37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205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572000" y="4233672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最大换道数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572000" y="4434840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100%CAV / 3600pcu/h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492240" y="4206240"/>
            <a:ext cx="2606040" cy="59436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492240" y="4206240"/>
            <a:ext cx="54864" cy="594360"/>
          </a:xfrm>
          <a:prstGeom prst="rect">
            <a:avLst/>
          </a:prstGeom>
          <a:solidFill>
            <a:srgbClr val="4A7C8B"/>
          </a:solidFill>
        </p:spPr>
      </p:sp>
      <p:sp>
        <p:nvSpPr>
          <p:cNvPr id="28" name="Text 25"/>
          <p:cNvSpPr/>
          <p:nvPr/>
        </p:nvSpPr>
        <p:spPr>
          <a:xfrm>
            <a:off x="6629400" y="4233672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A7C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3.6×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7452360" y="4233672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Game vs SUMO Default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452360" y="4434840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2000pcu/h 通过量比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3" name="Shape 1"/>
          <p:cNvSpPr/>
          <p:nvPr/>
        </p:nvSpPr>
        <p:spPr>
          <a:xfrm>
            <a:off x="731520" y="457200"/>
            <a:ext cx="1645920" cy="301752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4" name="Text 2"/>
          <p:cNvSpPr/>
          <p:nvPr/>
        </p:nvSpPr>
        <p:spPr>
          <a:xfrm>
            <a:off x="731520" y="457200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实验结果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四模型对比分析 @ 100% CAV（更新）</a:t>
            </a:r>
            <a:endParaRPr lang="en-US" sz="2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554480"/>
          <a:ext cx="53035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035040" y="1554480"/>
            <a:ext cx="2743200" cy="301752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035040" y="1554480"/>
            <a:ext cx="2743200" cy="274320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9" name="Text 6"/>
          <p:cNvSpPr/>
          <p:nvPr/>
        </p:nvSpPr>
        <p:spPr>
          <a:xfrm>
            <a:off x="6126480" y="15544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性能总结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172200" y="1965960"/>
            <a:ext cx="36576" cy="411480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11" name="Text 8"/>
          <p:cNvSpPr/>
          <p:nvPr/>
        </p:nvSpPr>
        <p:spPr>
          <a:xfrm>
            <a:off x="6309360" y="1965960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Game (Ours)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309360" y="2167128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通过: 最高 204  碰撞: 0  队列: 18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72200" y="2514600"/>
            <a:ext cx="36576" cy="411480"/>
          </a:xfrm>
          <a:prstGeom prst="rect">
            <a:avLst/>
          </a:prstGeom>
          <a:solidFill>
            <a:srgbClr val="4A7C8B"/>
          </a:solidFill>
        </p:spPr>
      </p:sp>
      <p:sp>
        <p:nvSpPr>
          <p:cNvPr id="14" name="Text 11"/>
          <p:cNvSpPr/>
          <p:nvPr/>
        </p:nvSpPr>
        <p:spPr>
          <a:xfrm>
            <a:off x="6309360" y="2514600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No-V2X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309360" y="2715768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通过: ≈203  碰撞: 2  队列: 21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172200" y="3063240"/>
            <a:ext cx="36576" cy="411480"/>
          </a:xfrm>
          <a:prstGeom prst="rect">
            <a:avLst/>
          </a:prstGeom>
          <a:solidFill>
            <a:srgbClr val="D4A373"/>
          </a:solidFill>
        </p:spPr>
      </p:sp>
      <p:sp>
        <p:nvSpPr>
          <p:cNvPr id="17" name="Text 14"/>
          <p:cNvSpPr/>
          <p:nvPr/>
        </p:nvSpPr>
        <p:spPr>
          <a:xfrm>
            <a:off x="6309360" y="3063240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Rule-Based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309360" y="3264408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通过: 中 135  碰撞: 0  队列: 38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309360" y="3264408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L2: 无博弈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6172200" y="3611880"/>
            <a:ext cx="36576" cy="411480"/>
          </a:xfrm>
          <a:prstGeom prst="rect">
            <a:avLst/>
          </a:prstGeom>
          <a:solidFill>
            <a:srgbClr val="C44545"/>
          </a:solidFill>
        </p:spPr>
      </p:sp>
      <p:sp>
        <p:nvSpPr>
          <p:cNvPr id="21" name="Text 18"/>
          <p:cNvSpPr/>
          <p:nvPr/>
        </p:nvSpPr>
        <p:spPr>
          <a:xfrm>
            <a:off x="6309360" y="3611880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SUMO Default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309360" y="3813048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通过: 仅 57  碰撞: 2  队列: 48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309360" y="3813048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L3: 仅SUMO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3" name="Shape 1"/>
          <p:cNvSpPr/>
          <p:nvPr/>
        </p:nvSpPr>
        <p:spPr>
          <a:xfrm>
            <a:off x="731520" y="457200"/>
            <a:ext cx="1645920" cy="301752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4" name="Text 2"/>
          <p:cNvSpPr/>
          <p:nvPr/>
        </p:nvSpPr>
        <p:spPr>
          <a:xfrm>
            <a:off x="731520" y="457200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消融分析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逐层消融 — 各模块贡献量化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7680960" cy="86868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554480"/>
            <a:ext cx="73152" cy="868680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8" name="Shape 6"/>
          <p:cNvSpPr/>
          <p:nvPr/>
        </p:nvSpPr>
        <p:spPr>
          <a:xfrm>
            <a:off x="1005840" y="1627632"/>
            <a:ext cx="457200" cy="228600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9" name="Text 7"/>
          <p:cNvSpPr/>
          <p:nvPr/>
        </p:nvSpPr>
        <p:spPr>
          <a:xfrm>
            <a:off x="1005840" y="16276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54480" y="162763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V2X 通信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1627632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对比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0" y="1810512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Game vs No-V2X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0" y="1627632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发现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303520" y="1810512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通过量完全一致，但 No-V2X 发生 2 次碰撞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0" y="1627632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结论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132320" y="1810512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8B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V2X 的贡献是安全，而非效率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2606040"/>
            <a:ext cx="7680960" cy="86868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2606040"/>
            <a:ext cx="73152" cy="868680"/>
          </a:xfrm>
          <a:prstGeom prst="rect">
            <a:avLst/>
          </a:prstGeom>
          <a:solidFill>
            <a:srgbClr val="D4A373"/>
          </a:solidFill>
        </p:spPr>
      </p:sp>
      <p:sp>
        <p:nvSpPr>
          <p:cNvPr id="19" name="Shape 17"/>
          <p:cNvSpPr/>
          <p:nvPr/>
        </p:nvSpPr>
        <p:spPr>
          <a:xfrm>
            <a:off x="1005840" y="2679192"/>
            <a:ext cx="457200" cy="228600"/>
          </a:xfrm>
          <a:prstGeom prst="rect">
            <a:avLst/>
          </a:prstGeom>
          <a:solidFill>
            <a:srgbClr val="D4A373"/>
          </a:solidFill>
        </p:spPr>
      </p:sp>
      <p:sp>
        <p:nvSpPr>
          <p:cNvPr id="20" name="Text 18"/>
          <p:cNvSpPr/>
          <p:nvPr/>
        </p:nvSpPr>
        <p:spPr>
          <a:xfrm>
            <a:off x="1005840" y="267919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54480" y="26791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博弈决策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74720" y="2679192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对比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74720" y="2862072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No-V2X vs Rule-Based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03520" y="2679192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发现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03520" y="2862072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Rule-Based 通过量降 36% (126→80 @2000pcu/h)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0" y="2679192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结论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132320" y="2862072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A37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博弈决策显著提升效率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3657600"/>
            <a:ext cx="7680960" cy="86868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" y="3657600"/>
            <a:ext cx="73152" cy="868680"/>
          </a:xfrm>
          <a:prstGeom prst="rect">
            <a:avLst/>
          </a:prstGeom>
          <a:solidFill>
            <a:srgbClr val="C44545"/>
          </a:solidFill>
        </p:spPr>
      </p:sp>
      <p:sp>
        <p:nvSpPr>
          <p:cNvPr id="30" name="Shape 28"/>
          <p:cNvSpPr/>
          <p:nvPr/>
        </p:nvSpPr>
        <p:spPr>
          <a:xfrm>
            <a:off x="1005840" y="3730752"/>
            <a:ext cx="457200" cy="228600"/>
          </a:xfrm>
          <a:prstGeom prst="rect">
            <a:avLst/>
          </a:prstGeom>
          <a:solidFill>
            <a:srgbClr val="C44545"/>
          </a:solidFill>
        </p:spPr>
      </p:sp>
      <p:sp>
        <p:nvSpPr>
          <p:cNvPr id="31" name="Text 29"/>
          <p:cNvSpPr/>
          <p:nvPr/>
        </p:nvSpPr>
        <p:spPr>
          <a:xfrm>
            <a:off x="1005840" y="373075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554480" y="3730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Python控制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0" y="3730752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对比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474720" y="3913632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Rule-Based vs SUMO Default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03520" y="3730752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发现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303520" y="3913632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SUMO Default 仅 35 辆 (&lt; Game 的 30%) + 2 次碰撞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32320" y="3730752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C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结论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132320" y="3913632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4454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Python 控制完全必要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371600" y="4572000"/>
            <a:ext cx="6400800" cy="411480"/>
          </a:xfrm>
          <a:prstGeom prst="rect">
            <a:avLst/>
          </a:prstGeom>
          <a:solidFill>
            <a:srgbClr val="A8DADC"/>
          </a:solidFill>
        </p:spPr>
      </p:sp>
      <p:sp>
        <p:nvSpPr>
          <p:cNvPr id="40" name="Text 38"/>
          <p:cNvSpPr/>
          <p:nvPr/>
        </p:nvSpPr>
        <p:spPr>
          <a:xfrm>
            <a:off x="1463040" y="4572000"/>
            <a:ext cx="6217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完整方案 ──删V2X──→ No-V2X ──删博弈──→ Rule-Based ──删控制──→ SUMO Default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3" name="Shape 1"/>
          <p:cNvSpPr/>
          <p:nvPr/>
        </p:nvSpPr>
        <p:spPr>
          <a:xfrm>
            <a:off x="731520" y="457200"/>
            <a:ext cx="1645920" cy="301752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4" name="Text 2"/>
          <p:cNvSpPr/>
          <p:nvPr/>
        </p:nvSpPr>
        <p:spPr>
          <a:xfrm>
            <a:off x="731520" y="457200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总结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核心结论（更新）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7680960" cy="475488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627632"/>
            <a:ext cx="320040" cy="320040"/>
          </a:xfrm>
          <a:prstGeom prst="ellipse">
            <a:avLst/>
          </a:prstGeom>
          <a:solidFill>
            <a:srgbClr val="2D8B8B"/>
          </a:solidFill>
        </p:spPr>
      </p:sp>
      <p:sp>
        <p:nvSpPr>
          <p:cNvPr id="8" name="Text 6"/>
          <p:cNvSpPr/>
          <p:nvPr/>
        </p:nvSpPr>
        <p:spPr>
          <a:xfrm>
            <a:off x="914400" y="1627632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1572768"/>
            <a:ext cx="67665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Game 模型全面领先 — 2000pcu/h通过126辆（SUMO Default仅35辆，3.6倍差距），零碰撞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148840"/>
            <a:ext cx="7680960" cy="475488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2221992"/>
            <a:ext cx="320040" cy="320040"/>
          </a:xfrm>
          <a:prstGeom prst="ellipse">
            <a:avLst/>
          </a:prstGeom>
          <a:solidFill>
            <a:srgbClr val="2D8B8B"/>
          </a:solidFill>
        </p:spPr>
      </p:sp>
      <p:sp>
        <p:nvSpPr>
          <p:cNvPr id="12" name="Text 10"/>
          <p:cNvSpPr/>
          <p:nvPr/>
        </p:nvSpPr>
        <p:spPr>
          <a:xfrm>
            <a:off x="914400" y="2221992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2167128"/>
            <a:ext cx="67665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CAV渗透率从10%起不影响通过量 — 各渗透率下通过量无趋势性变化(77~79辆, 1200pcu/h)；30%即获全部收益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743200"/>
            <a:ext cx="7680960" cy="475488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2816352"/>
            <a:ext cx="320040" cy="320040"/>
          </a:xfrm>
          <a:prstGeom prst="ellipse">
            <a:avLst/>
          </a:prstGeom>
          <a:solidFill>
            <a:srgbClr val="2D8B8B"/>
          </a:solidFill>
        </p:spPr>
      </p:sp>
      <p:sp>
        <p:nvSpPr>
          <p:cNvPr id="16" name="Text 14"/>
          <p:cNvSpPr/>
          <p:nvPr/>
        </p:nvSpPr>
        <p:spPr>
          <a:xfrm>
            <a:off x="914400" y="2816352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2761488"/>
            <a:ext cx="67665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V2X通信的贡献在安全层面而非效率 — Game vs No-V2X 通过量一致，但 No-V2X 发生碰撞而 Game 零碰撞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337560"/>
            <a:ext cx="7680960" cy="475488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3410712"/>
            <a:ext cx="320040" cy="320040"/>
          </a:xfrm>
          <a:prstGeom prst="ellipse">
            <a:avLst/>
          </a:prstGeom>
          <a:solidFill>
            <a:srgbClr val="2D8B8B"/>
          </a:solidFill>
        </p:spPr>
      </p:sp>
      <p:sp>
        <p:nvSpPr>
          <p:cNvPr id="20" name="Text 18"/>
          <p:cNvSpPr/>
          <p:nvPr/>
        </p:nvSpPr>
        <p:spPr>
          <a:xfrm>
            <a:off x="914400" y="3410712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71600" y="3355848"/>
            <a:ext cx="67665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博弈决策比规则判断提升36%效率 — No-V2X vs Rule-Based 在2000pcu/h差距126→80(-36%)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3931920"/>
            <a:ext cx="7680960" cy="475488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4400" y="4005072"/>
            <a:ext cx="320040" cy="320040"/>
          </a:xfrm>
          <a:prstGeom prst="ellipse">
            <a:avLst/>
          </a:prstGeom>
          <a:solidFill>
            <a:srgbClr val="2D8B8B"/>
          </a:solidFill>
        </p:spPr>
      </p:sp>
      <p:sp>
        <p:nvSpPr>
          <p:cNvPr id="24" name="Text 22"/>
          <p:cNvSpPr/>
          <p:nvPr/>
        </p:nvSpPr>
        <p:spPr>
          <a:xfrm>
            <a:off x="914400" y="4005072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71600" y="3950208"/>
            <a:ext cx="67665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数据驱动权重无需人工调参 — lc_cost=0.70真人天生不爱换道, safe=0.25安全首位, speed=0.15被高估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" y="4526280"/>
            <a:ext cx="7680960" cy="475488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4400" y="4599432"/>
            <a:ext cx="320040" cy="320040"/>
          </a:xfrm>
          <a:prstGeom prst="ellipse">
            <a:avLst/>
          </a:prstGeom>
          <a:solidFill>
            <a:srgbClr val="2D8B8B"/>
          </a:solidFill>
        </p:spPr>
      </p:sp>
      <p:sp>
        <p:nvSpPr>
          <p:cNvPr id="28" name="Text 26"/>
          <p:cNvSpPr/>
          <p:nvPr/>
        </p:nvSpPr>
        <p:spPr>
          <a:xfrm>
            <a:off x="914400" y="4599432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371600" y="4544568"/>
            <a:ext cx="67665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逐层消融验证三大模块贡献 — V2X→安全, 博弈→效率, Python控制→全部；关掉所有层效率不足30%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5" name="Shape 3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2D8B8B">
              <a:alpha val="12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1E6B6B">
              <a:alpha val="12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8DAD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下一步工作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7315200" cy="384048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731520" y="1463040"/>
            <a:ext cx="54864" cy="384048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10" name="Text 8"/>
          <p:cNvSpPr/>
          <p:nvPr/>
        </p:nvSpPr>
        <p:spPr>
          <a:xfrm>
            <a:off x="914400" y="1463040"/>
            <a:ext cx="6858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1. 扩展至多车道连续换道场景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1965960"/>
            <a:ext cx="7315200" cy="384048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731520" y="1965960"/>
            <a:ext cx="54864" cy="384048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13" name="Text 11"/>
          <p:cNvSpPr/>
          <p:nvPr/>
        </p:nvSpPr>
        <p:spPr>
          <a:xfrm>
            <a:off x="914400" y="1965960"/>
            <a:ext cx="6858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2. 引入强化学习端到端训练博弈求解器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2468880"/>
            <a:ext cx="7315200" cy="384048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731520" y="2468880"/>
            <a:ext cx="54864" cy="384048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16" name="Text 14"/>
          <p:cNvSpPr/>
          <p:nvPr/>
        </p:nvSpPr>
        <p:spPr>
          <a:xfrm>
            <a:off x="914400" y="2468880"/>
            <a:ext cx="6858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3. 在真实路测数据上验证模型迁移性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2971800"/>
            <a:ext cx="7315200" cy="384048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731520" y="2971800"/>
            <a:ext cx="54864" cy="384048"/>
          </a:xfrm>
          <a:prstGeom prst="rect">
            <a:avLst/>
          </a:prstGeom>
          <a:solidFill>
            <a:srgbClr val="2D8B8B"/>
          </a:solidFill>
        </p:spPr>
      </p:sp>
      <p:sp>
        <p:nvSpPr>
          <p:cNvPr id="19" name="Text 17"/>
          <p:cNvSpPr/>
          <p:nvPr/>
        </p:nvSpPr>
        <p:spPr>
          <a:xfrm>
            <a:off x="914400" y="2971800"/>
            <a:ext cx="6858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4. 考虑V2X通信延迟动态变化对决策的影响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00400" y="3840480"/>
            <a:ext cx="2743200" cy="0"/>
          </a:xfrm>
          <a:prstGeom prst="line">
            <a:avLst/>
          </a:prstGeom>
          <a:noFill/>
          <a:ln w="19050">
            <a:solidFill>
              <a:srgbClr val="2D8B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4023360"/>
            <a:ext cx="5486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谢谢！欢迎提问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3739</Words>
  <Application>WPS 演示</Application>
  <PresentationFormat>On-screen Show (16:9)</PresentationFormat>
  <Paragraphs>783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3" baseType="lpstr">
      <vt:lpstr>Arial</vt:lpstr>
      <vt:lpstr>宋体</vt:lpstr>
      <vt:lpstr>Wingdings</vt:lpstr>
      <vt:lpstr>DejaVu Sans</vt:lpstr>
      <vt:lpstr>Calibri</vt:lpstr>
      <vt:lpstr>DejaVu Sans</vt:lpstr>
      <vt:lpstr>DejaVu Sans</vt:lpstr>
      <vt:lpstr>Consolas</vt:lpstr>
      <vt:lpstr>Consolas</vt:lpstr>
      <vt:lpstr>Consolas</vt:lpstr>
      <vt:lpstr>DejaVu Sans</vt:lpstr>
      <vt:lpstr>Arial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SUMO-CAV 混合交通博弈换道仿真系统</dc:title>
  <dc:creator>CAV Research Group</dc:creator>
  <dc:subject>PptxGenJS Presentation</dc:subject>
  <cp:lastModifiedBy>好好修行</cp:lastModifiedBy>
  <cp:revision>2</cp:revision>
  <dcterms:created xsi:type="dcterms:W3CDTF">2026-05-08T15:51:00Z</dcterms:created>
  <dcterms:modified xsi:type="dcterms:W3CDTF">2026-05-08T15:55:29Z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8ECC5646ECA741F781D7C4EACF4679D7_12</vt:lpwstr>
  </property>
</Properties>
</file>